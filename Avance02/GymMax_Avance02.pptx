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Estos 5 problemas fueron validados en investigación de antecedentes del sector peruano (SmartGym, GymSys, BodyTrack).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backlog completo está en el informe Word con las 40 historias detalladas.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documento incluye las 18 historias completas con criterios de aceptación verificables.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socio ingresa al login; si sus credenciales son válidas accede al dashboard; si no, puede registrarse.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modelo lógico representa las entidades del negocio sin atarse a un SGBD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Motor InnoDB con integridad referencial, charset utf8mb4, script SQL en anexos del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Programación a interfaces (I*DAO) para desacoplar la persistencia de la lógica de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Facade encapsula reglas de negocio; Servlets coordinan vista y modelo (patrón MVC).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diccionario completo con atributos, métodos, parámetros y descripciones está en el informe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88720" y="1371600"/>
            <a:ext cx="9784080" cy="4572000"/>
          </a:xfrm>
          <a:prstGeom prst="roundRect">
            <a:avLst>
              <a:gd name="adj" fmla="val 5000"/>
            </a:avLst>
          </a:prstGeom>
          <a:noFill/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73736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E8C896"/>
                </a:solidFill>
                <a:latin typeface="Calibri"/>
              </a:rPr>
              <a:t>DESARROLLO WEB INTEGRADO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1">
                <a:solidFill>
                  <a:srgbClr val="D4A574"/>
                </a:solidFill>
                <a:latin typeface="Calibri"/>
              </a:rPr>
              <a:t>INFORME DE AVANCE 02 — GYMMAX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Diseño y avance de funcionalidad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E8C896"/>
                </a:solidFill>
                <a:latin typeface="Calibri"/>
              </a:rPr>
              <a:t>UTP · Sec. 27672 · Mayo 2026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640080"/>
            <a:ext cx="365760" cy="36576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0" y="5943600"/>
            <a:ext cx="365760" cy="36576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365760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61C1C"/>
                </a:solidFill>
                <a:latin typeface="Calibri"/>
              </a:rPr>
              <a:t>U T 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INTEGRANTES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D4A574"/>
                </a:solidFill>
                <a:latin typeface="Calibri"/>
              </a:rPr>
              <a:t>-  Choque Anchante, Niurka Yasbeth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D4A574"/>
                </a:solidFill>
                <a:latin typeface="Calibri"/>
              </a:rPr>
              <a:t>-  Diaz Culqui, Nehemias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D4A574"/>
                </a:solidFill>
                <a:latin typeface="Calibri"/>
              </a:rPr>
              <a:t>-  Purizaca Ipanaque, Dennys Marlon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D4A574"/>
                </a:solidFill>
                <a:latin typeface="Calibri"/>
              </a:rPr>
              <a:t>-  Soria Chavez, Ian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D4A574"/>
                </a:solidFill>
                <a:latin typeface="Calibri"/>
              </a:rPr>
              <a:t>-  Torre Escobar, Oliver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D4A574"/>
                </a:solidFill>
                <a:latin typeface="Calibri"/>
              </a:rPr>
              <a:t>-  Valladolid Llenque, Alexander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1.  Introducción y problemática</a:t>
            </a:r>
          </a:p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2.  Objetivos y alcance</a:t>
            </a:r>
          </a:p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3.  Características del producto</a:t>
            </a:r>
          </a:p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4.  Product Backlog y User Stories</a:t>
            </a:r>
          </a:p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5.  Wireframes y flujos de navegación</a:t>
            </a:r>
          </a:p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6.  Modelo de Base de Datos (Lógico + Físico)</a:t>
            </a:r>
          </a:p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7.  Diagrama de Clases UML</a:t>
            </a:r>
          </a:p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8.  Tecnologías utilizadas</a:t>
            </a:r>
          </a:p>
          <a:p>
            <a:pPr algn="l">
              <a:lnSpc>
                <a:spcPct val="140000"/>
              </a:lnSpc>
            </a:pPr>
            <a:r>
              <a:rPr sz="2200" i="1">
                <a:solidFill>
                  <a:srgbClr val="FFFFFF"/>
                </a:solidFill>
                <a:latin typeface="Calibri"/>
              </a:rPr>
              <a:t>9.  Próximos pasos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¿QUÉ ES GYMMAX?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Plataforma web centralizada para gestión de cadenas de gimnasios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Construida sobre Java EE + MySQL + Bootstrap 5.3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Enfoque Mobile First: accesible desde cualquier dispositivo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Centraliza: sedes, socios, membresías, reservas, pagos y reportes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¿QUÉ PROBLEMAS RESOLVEMOS?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Pérdida de ingresos por falta de control de vencimientos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Sobrecarga administrativa y procesos manuales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Colas largas en recepción en horarios pico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Mala experiencia del socio: no puede autogestionarse desde el celular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Sistemas existentes lentos y poco escalables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OBJETIVO GENERAL Y ESPECÍFICOS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GENERAL: aplicación web JEE que centralice sedes, socios, membresías y reservas con interfaz Mobile First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1. Módulo de consulta de sedes con cupos por clase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2. Formulario responsive de registro con validación tiempo real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3. Sistema de planes (Básico / Premium / Anual) con renovación autónoma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4. Diseño Mobile First con Bootstrap 5.3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5. Panel admin con KPIs y reportes exportables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6. Arquitectura por capas MVC + DAO + Facade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ALCANCE DEL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D4A574"/>
                </a:solidFill>
                <a:latin typeface="Calibri"/>
              </a:rPr>
              <a:t>SÍ INCLUYE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5303520" cy="3840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Multi-sede centralizada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Roles Socio + Administrador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Membresías digitales (3 planes)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Reservas con control de cupos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Pagos digitales (Yape/Plin/Tarjeta)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Dashboard KPIs + reportes Excel/PDF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D4A574"/>
                </a:solidFill>
                <a:latin typeface="Calibri"/>
              </a:rPr>
              <a:t>NO INCLUYE (esta versión)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468880"/>
            <a:ext cx="5303520" cy="3840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Pagos en efectivo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App nativa Android/iOS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Biometría de acceso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Marketing por correo masivo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Integración contable externa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10 CARACTERÍSTICAS CLAVE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Multi-sede centralizada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Sistema de roles Socio / Admin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Mobile First responsive (Bootstrap 5.3)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Pagos digitales (Yape, Plin, Tarjeta)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Dashboard administrativo con KPIs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Reservas online con control de cupos en tiempo real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Validación en frontend y backend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Reportes exportables a Excel y PDF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Seguridad y control de sesión por rol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Arquitectura por capas MVC + DAO + Facade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PRODUCT BACKLOG — SPRINTS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82880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87828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A1A1A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>
                    <a:solidFill>
                      <a:srgbClr val="D4A5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A1A1A"/>
                          </a:solidFill>
                          <a:latin typeface="Calibri"/>
                        </a:rPr>
                        <a:t>Foco</a:t>
                      </a:r>
                    </a:p>
                  </a:txBody>
                  <a:tcPr>
                    <a:solidFill>
                      <a:srgbClr val="D4A5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A1A1A"/>
                          </a:solidFill>
                          <a:latin typeface="Calibri"/>
                        </a:rPr>
                        <a:t>Story Points</a:t>
                      </a:r>
                    </a:p>
                  </a:txBody>
                  <a:tcPr>
                    <a:solidFill>
                      <a:srgbClr val="D4A57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Sprint 1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Autenticación + base del socio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22 SP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Sprint 2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Sedes + clases + reservas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37 SP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Sprint 3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Membresías + pagos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41 SP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Sprint 4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Reportes + asistencias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26 SP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Sprint 5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Notificaciones + cierre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8 SP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28 RF + 12 RNF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134 SP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USER STORIES DESTACADAS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US-08 Reservar clase: como socio con membresía activa quiero reservar una clase para asegurar mi cupo (valida membresía, descuenta cupo, confirma)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US-14 Dashboard Admin: como admin quiero ver KPIs en tiempo real para decidir (4 KPIs, variación %, gráfico de 6 meses)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D4A574"/>
                </a:solidFill>
                <a:latin typeface="Calibri"/>
              </a:rPr>
              <a:t>• </a:t>
            </a:r>
            <a:r>
              <a:rPr sz="1500">
                <a:solidFill>
                  <a:srgbClr val="FFFFFF"/>
                </a:solidFill>
                <a:latin typeface="Calibri"/>
              </a:rPr>
              <a:t>US-17 Reportes: como admin quiero generar reportes filtrables (4 tipos, filtros sede + fecha, exportar Excel/PDF)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FLUJO DE NAVEGACIÓN — SOCIO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Captura del diagrama de flujo del Socio (Avance 01: login → dashboard → sedes/reservas/mis reservas)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FLUJO DE NAVEGACIÓN — ADMINISTRADOR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Captura del diagrama de flujo del Admin (Avance 01: login → adminDashboard → gestionSocios/gestionSedes/reportes)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WIREFRAMES MOBILE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Capturas del Avance 01: Login del socio · Registro de socio · Dashboard del socio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WIREFRAMES MOBILE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Capturas del Avance 01: Listado de sedes · Reservar clase · Mis reservas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WIREFRAMES DESKTOP — ADMIN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Capturas del Avance 01: Dashboard administrativo (KPIs, gráficos) · Gestión de socios (tabla CRUD)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WIREFRAMES DESKTOP — REPORTES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Captura del mockup: Generación de reportes (gráfico de barras + tabla de resumen numérico)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MODELO DE BASE DE DATOS — 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Captura del diagrama lógico hecho en Draw.io: 10 entidades sin tipos de dato, con relaciones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MODELO DE BASE DE DATOS — FÍSICO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Captura del diagrama físico Draw.io: tipos MySQL (VARCHAR, INT, ENUM), PK, FK, restricciones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STACK TECNOLÓGICO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82880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41148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A1A1A"/>
                          </a:solidFill>
                          <a:latin typeface="Calibri"/>
                        </a:rPr>
                        <a:t>Capa</a:t>
                      </a:r>
                    </a:p>
                  </a:txBody>
                  <a:tcPr>
                    <a:solidFill>
                      <a:srgbClr val="D4A5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A1A1A"/>
                          </a:solidFill>
                          <a:latin typeface="Calibri"/>
                        </a:rPr>
                        <a:t>Tecnología</a:t>
                      </a:r>
                    </a:p>
                  </a:txBody>
                  <a:tcPr>
                    <a:solidFill>
                      <a:srgbClr val="D4A57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Java 11 + Jakarta EE 10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JSP + Bootstrap 5.3 + HTML5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Controlador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Servlets (Jakarta 6.0)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Persistencia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JDBC + DAO + MySQL Connector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Base de datos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MySQL 8.0 Community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Servidor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Apache Tomcat 10.1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IDE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Apache NetBeans 21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Diagramas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Draw.io / Lucid Chart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Metodología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Scrum (sprints de 2 semanas)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DIAGRAMA DE CLASES UML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Capa DTO: 10 clases POJO + Capa DAO: 9 interfaces I*DAO + 9 implementaciones *DAOImpl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DIAGRAMA DE CLASES UML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9418320" cy="3931920"/>
          </a:xfrm>
          <a:prstGeom prst="rect">
            <a:avLst/>
          </a:prstGeom>
          <a:solidFill>
            <a:srgbClr val="333333"/>
          </a:solidFill>
          <a:ln w="190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1">
                <a:solidFill>
                  <a:srgbClr val="E8C896"/>
                </a:solidFill>
                <a:latin typeface="Calibri"/>
              </a:rPr>
              <a:t>[ INSERTAR IMAGEN AQUÍ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  <a:latin typeface="Calibri"/>
              </a:rPr>
              <a:t>Capa Facade (5 clases) + Capa Controller (5 Servlets) + clase Conexion (singleton)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DICCIONARIO DE CLASES — RESUMEN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82880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51435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A1A1A"/>
                          </a:solidFill>
                          <a:latin typeface="Calibri"/>
                        </a:rPr>
                        <a:t>Capa</a:t>
                      </a:r>
                    </a:p>
                  </a:txBody>
                  <a:tcPr>
                    <a:solidFill>
                      <a:srgbClr val="D4A5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A1A1A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>
                    <a:solidFill>
                      <a:srgbClr val="D4A574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DTO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 clases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DAO interfaces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DAO implementaciones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Facades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Controllers (Servlets)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Utilitaria (Conexion)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39 clases</a:t>
                      </a:r>
                    </a:p>
                  </a:txBody>
                  <a:tcPr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PATRONES DE DISEÑO APLICADOS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MVC — Modelo (DTO) · Vista (JSP) · Controlador (Servlet)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DAO — Aislamiento del acceso a datos (interface + impl)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Facade — Encapsulamiento de reglas de negocio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Singleton — Helper Conexion único para JDBC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DTO — Objetos planos para transportar datos entre capas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HOJA DE RUTA — ENTREGA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A574"/>
                </a:solidFill>
                <a:latin typeface="Calibri"/>
              </a:rPr>
              <a:t>• </a:t>
            </a:r>
            <a:r>
              <a:rPr sz="1600">
                <a:solidFill>
                  <a:srgbClr val="FFFFFF"/>
                </a:solidFill>
                <a:latin typeface="Calibri"/>
              </a:rPr>
              <a:t>Sprint 1-2 (Sem 11-12): autenticación + dashboard socio + listado de sedes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A574"/>
                </a:solidFill>
                <a:latin typeface="Calibri"/>
              </a:rPr>
              <a:t>• </a:t>
            </a:r>
            <a:r>
              <a:rPr sz="1600">
                <a:solidFill>
                  <a:srgbClr val="FFFFFF"/>
                </a:solidFill>
                <a:latin typeface="Calibri"/>
              </a:rPr>
              <a:t>Sprint 3 (Sem 13): reservas de clases + membresías y pagos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A574"/>
                </a:solidFill>
                <a:latin typeface="Calibri"/>
              </a:rPr>
              <a:t>• </a:t>
            </a:r>
            <a:r>
              <a:rPr sz="1600">
                <a:solidFill>
                  <a:srgbClr val="FFFFFF"/>
                </a:solidFill>
                <a:latin typeface="Calibri"/>
              </a:rPr>
              <a:t>Sprint 4 (Sem 14): panel administrativo + reportes + exportación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A574"/>
                </a:solidFill>
                <a:latin typeface="Calibri"/>
              </a:rPr>
              <a:t>• </a:t>
            </a:r>
            <a:r>
              <a:rPr sz="1600">
                <a:solidFill>
                  <a:srgbClr val="FFFFFF"/>
                </a:solidFill>
                <a:latin typeface="Calibri"/>
              </a:rPr>
              <a:t>Sprint 5 (Sem 15): notificaciones + pruebas integrales + documentación final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1">
                <a:solidFill>
                  <a:srgbClr val="D4A574"/>
                </a:solidFill>
                <a:latin typeface="Calibri"/>
              </a:rPr>
              <a:t>CONCLUSIONES DEL AVANCE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Diseño completo: 18 user stories, 40 requerimientos identificados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Modelo de datos validado: 10 tablas normalizadas + script SQL ejecutable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Arquitectura por capas definida: 39 clases organizadas en 5 paquetes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Stack consolidado: Java EE + MySQL + Bootstrap + Tomcat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Calibri"/>
              </a:rPr>
              <a:t>• </a:t>
            </a:r>
            <a:r>
              <a:rPr sz="1800">
                <a:solidFill>
                  <a:srgbClr val="FFFFFF"/>
                </a:solidFill>
                <a:latin typeface="Calibri"/>
              </a:rPr>
              <a:t>Repositorio Git público creado y documentación versionada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20040" cy="32004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612880" y="52120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12880" y="56692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126480"/>
            <a:ext cx="228600" cy="2286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10972800" y="5943600"/>
            <a:ext cx="640080" cy="1371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GymMax — Avance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68880"/>
            <a:ext cx="121889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0" b="1" i="1">
                <a:solidFill>
                  <a:srgbClr val="D4A574"/>
                </a:solidFill>
                <a:latin typeface="Calibri"/>
              </a:rP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572000"/>
            <a:ext cx="12188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Equipo Grupo 3 — UTP 2026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365760" cy="36576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6035040"/>
            <a:ext cx="365760" cy="36576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