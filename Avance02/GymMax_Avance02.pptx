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88720" y="640080"/>
            <a:ext cx="9814255" cy="5577840"/>
          </a:xfrm>
          <a:prstGeom prst="roundRect">
            <a:avLst/>
          </a:prstGeom>
          <a:noFill/>
          <a:ln w="317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54480" y="1005840"/>
            <a:ext cx="274320" cy="27432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4630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1">
                <a:solidFill>
                  <a:srgbClr val="D4A574"/>
                </a:solidFill>
                <a:latin typeface="Montserrat"/>
              </a:rPr>
              <a:t>INFORME DE AVANCE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3774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 b="1" i="1">
                <a:solidFill>
                  <a:srgbClr val="E8C495"/>
                </a:solidFill>
                <a:latin typeface="Montserrat"/>
              </a:rPr>
              <a:t>GYMMAX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5204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i="1">
                <a:solidFill>
                  <a:srgbClr val="E0E0E0"/>
                </a:solidFill>
                <a:latin typeface="Calibri"/>
              </a:rPr>
              <a:t>Sistema Integral de Gestión de Gimnasios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297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1">
                <a:solidFill>
                  <a:srgbClr val="D4A574"/>
                </a:solidFill>
                <a:latin typeface="Montserrat"/>
              </a:rPr>
              <a:t>INTEGRANTES: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70916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1">
                <a:solidFill>
                  <a:srgbClr val="E8C495"/>
                </a:solidFill>
                <a:latin typeface="Montserrat"/>
              </a:rPr>
              <a:t>- CHOQUE ANCHANTE NIURKA YASBETH</a:t>
            </a:r>
          </a:p>
          <a:p>
            <a:pPr>
              <a:spcAft>
                <a:spcPts val="200"/>
              </a:spcAft>
            </a:pPr>
            <a:r>
              <a:rPr sz="1300" b="1" i="1">
                <a:solidFill>
                  <a:srgbClr val="E8C495"/>
                </a:solidFill>
                <a:latin typeface="Montserrat"/>
              </a:rPr>
              <a:t>- DIAZ CULQUI NEHEMIAS</a:t>
            </a:r>
          </a:p>
          <a:p>
            <a:pPr>
              <a:spcAft>
                <a:spcPts val="200"/>
              </a:spcAft>
            </a:pPr>
            <a:r>
              <a:rPr sz="1300" b="1" i="1">
                <a:solidFill>
                  <a:srgbClr val="E8C495"/>
                </a:solidFill>
                <a:latin typeface="Montserrat"/>
              </a:rPr>
              <a:t>- PURIZACA IPANAQUE DENNYS MARLON</a:t>
            </a:r>
          </a:p>
          <a:p>
            <a:pPr>
              <a:spcAft>
                <a:spcPts val="200"/>
              </a:spcAft>
            </a:pPr>
            <a:r>
              <a:rPr sz="1300" b="1" i="1">
                <a:solidFill>
                  <a:srgbClr val="E8C495"/>
                </a:solidFill>
                <a:latin typeface="Montserrat"/>
              </a:rPr>
              <a:t>- SORIA CHAVEZ IAN</a:t>
            </a:r>
          </a:p>
          <a:p>
            <a:pPr>
              <a:spcAft>
                <a:spcPts val="200"/>
              </a:spcAft>
            </a:pPr>
            <a:r>
              <a:rPr sz="1300" b="1" i="1">
                <a:solidFill>
                  <a:srgbClr val="E8C495"/>
                </a:solidFill>
                <a:latin typeface="Montserrat"/>
              </a:rPr>
              <a:t>- TORRE ESCOBAR OLIVER</a:t>
            </a:r>
          </a:p>
          <a:p>
            <a:pPr>
              <a:spcAft>
                <a:spcPts val="200"/>
              </a:spcAft>
            </a:pPr>
            <a:r>
              <a:rPr sz="1300" b="1" i="1">
                <a:solidFill>
                  <a:srgbClr val="E8C495"/>
                </a:solidFill>
                <a:latin typeface="Montserrat"/>
              </a:rPr>
              <a:t>- VALLADOLID LLENQUE ALEXANDER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0" y="5212080"/>
            <a:ext cx="731520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2000" b="1">
                <a:solidFill>
                  <a:srgbClr val="FFFFFF"/>
                </a:solidFill>
              </a:rPr>
              <a:t>UTP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6035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1">
                <a:solidFill>
                  <a:srgbClr val="D4A574"/>
                </a:solidFill>
                <a:latin typeface="Montserrat"/>
              </a:rPr>
              <a:t>DESARROLLO WEB INTEGRADO  ·  UTP  ·  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2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822960"/>
            <a:ext cx="9601200" cy="5212080"/>
          </a:xfrm>
          <a:prstGeom prst="roundRect">
            <a:avLst/>
          </a:prstGeom>
          <a:noFill/>
          <a:ln w="254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1" i="1">
                <a:solidFill>
                  <a:srgbClr val="D4A574"/>
                </a:solidFill>
                <a:latin typeface="Montserrat"/>
              </a:rPr>
              <a:t>INFORME DE AVANCE 02 — GYMMAX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286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1">
                <a:solidFill>
                  <a:srgbClr val="D4A574"/>
                </a:solidFill>
                <a:latin typeface="Montserrat"/>
              </a:rPr>
              <a:t>INTEGRANTES: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83464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i="1">
                <a:solidFill>
                  <a:srgbClr val="E8C495"/>
                </a:solidFill>
                <a:latin typeface="Calibri"/>
              </a:rPr>
              <a:t>- CHOQUE ANCHANTE NIURKA YASBETH</a:t>
            </a:r>
          </a:p>
          <a:p>
            <a:pPr algn="l">
              <a:spcAft>
                <a:spcPts val="1000"/>
              </a:spcAft>
            </a:pPr>
            <a:r>
              <a:rPr sz="1800" i="1">
                <a:solidFill>
                  <a:srgbClr val="E8C495"/>
                </a:solidFill>
                <a:latin typeface="Calibri"/>
              </a:rPr>
              <a:t>- DIAZ CULQUI NEHEMIAS</a:t>
            </a:r>
          </a:p>
          <a:p>
            <a:pPr algn="l">
              <a:spcAft>
                <a:spcPts val="1000"/>
              </a:spcAft>
            </a:pPr>
            <a:r>
              <a:rPr sz="1800" i="1">
                <a:solidFill>
                  <a:srgbClr val="E8C495"/>
                </a:solidFill>
                <a:latin typeface="Calibri"/>
              </a:rPr>
              <a:t>- PURIZACA IPANAQUE DENNYS MARLON</a:t>
            </a:r>
          </a:p>
          <a:p>
            <a:pPr algn="l">
              <a:spcAft>
                <a:spcPts val="1000"/>
              </a:spcAft>
            </a:pPr>
            <a:r>
              <a:rPr sz="1800" i="1">
                <a:solidFill>
                  <a:srgbClr val="E8C495"/>
                </a:solidFill>
                <a:latin typeface="Calibri"/>
              </a:rPr>
              <a:t>- SORIA CHAVEZ IAN</a:t>
            </a:r>
          </a:p>
          <a:p>
            <a:pPr algn="l">
              <a:spcAft>
                <a:spcPts val="1000"/>
              </a:spcAft>
            </a:pPr>
            <a:r>
              <a:rPr sz="1800" i="1">
                <a:solidFill>
                  <a:srgbClr val="E8C495"/>
                </a:solidFill>
                <a:latin typeface="Calibri"/>
              </a:rPr>
              <a:t>- TORRE ESCOBAR OLIVER</a:t>
            </a:r>
          </a:p>
          <a:p>
            <a:pPr algn="l">
              <a:spcAft>
                <a:spcPts val="1000"/>
              </a:spcAft>
            </a:pPr>
            <a:r>
              <a:rPr sz="1800" i="1">
                <a:solidFill>
                  <a:srgbClr val="E8C495"/>
                </a:solidFill>
                <a:latin typeface="Calibri"/>
              </a:rPr>
              <a:t>- VALLADOLID LLENQUE ALEXANDER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3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5400" b="1" i="1">
                <a:solidFill>
                  <a:srgbClr val="D4A574"/>
                </a:solidFill>
                <a:latin typeface="Montserrat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i="1">
                <a:solidFill>
                  <a:srgbClr val="E8C495"/>
                </a:solidFill>
                <a:latin typeface="Calibri"/>
              </a:rPr>
              <a:t>1. Introducción y problemática</a:t>
            </a:r>
          </a:p>
          <a:p>
            <a:pPr algn="l">
              <a:spcAft>
                <a:spcPts val="1400"/>
              </a:spcAft>
            </a:pPr>
            <a:r>
              <a:rPr sz="2000" i="1">
                <a:solidFill>
                  <a:srgbClr val="E8C495"/>
                </a:solidFill>
                <a:latin typeface="Calibri"/>
              </a:rPr>
              <a:t>2. Objetivos y alcance</a:t>
            </a:r>
          </a:p>
          <a:p>
            <a:pPr algn="l">
              <a:spcAft>
                <a:spcPts val="1400"/>
              </a:spcAft>
            </a:pPr>
            <a:r>
              <a:rPr sz="2000" i="1">
                <a:solidFill>
                  <a:srgbClr val="E8C495"/>
                </a:solidFill>
                <a:latin typeface="Calibri"/>
              </a:rPr>
              <a:t>3. Características del producto</a:t>
            </a:r>
          </a:p>
          <a:p>
            <a:pPr algn="l">
              <a:spcAft>
                <a:spcPts val="1400"/>
              </a:spcAft>
            </a:pPr>
            <a:r>
              <a:rPr sz="2000" i="1">
                <a:solidFill>
                  <a:srgbClr val="E8C495"/>
                </a:solidFill>
                <a:latin typeface="Calibri"/>
              </a:rPr>
              <a:t>4. Product Backlog y User Stories</a:t>
            </a:r>
          </a:p>
          <a:p>
            <a:pPr algn="l">
              <a:spcAft>
                <a:spcPts val="1400"/>
              </a:spcAft>
            </a:pPr>
            <a:r>
              <a:rPr sz="2000" i="1">
                <a:solidFill>
                  <a:srgbClr val="E8C495"/>
                </a:solidFill>
                <a:latin typeface="Calibri"/>
              </a:rPr>
              <a:t>5. Wireframes y flujos de navegación</a:t>
            </a:r>
          </a:p>
          <a:p>
            <a:pPr algn="l">
              <a:spcAft>
                <a:spcPts val="1400"/>
              </a:spcAft>
            </a:pPr>
            <a:r>
              <a:rPr sz="2000" i="1">
                <a:solidFill>
                  <a:srgbClr val="E8C495"/>
                </a:solidFill>
                <a:latin typeface="Calibri"/>
              </a:rPr>
              <a:t>6. Modelo de Base de Datos (Lógico y Físico)</a:t>
            </a:r>
          </a:p>
          <a:p>
            <a:pPr algn="l">
              <a:spcAft>
                <a:spcPts val="1400"/>
              </a:spcAft>
            </a:pPr>
            <a:r>
              <a:rPr sz="2000" i="1">
                <a:solidFill>
                  <a:srgbClr val="E8C495"/>
                </a:solidFill>
                <a:latin typeface="Calibri"/>
              </a:rPr>
              <a:t>7. Diagrama de Clases UML</a:t>
            </a:r>
          </a:p>
          <a:p>
            <a:pPr algn="l">
              <a:spcAft>
                <a:spcPts val="1400"/>
              </a:spcAft>
            </a:pPr>
            <a:r>
              <a:rPr sz="2000" i="1">
                <a:solidFill>
                  <a:srgbClr val="E8C495"/>
                </a:solidFill>
                <a:latin typeface="Calibri"/>
              </a:rPr>
              <a:t>8. Tecnologías utilizadas</a:t>
            </a:r>
          </a:p>
          <a:p>
            <a:pPr algn="l">
              <a:spcAft>
                <a:spcPts val="1400"/>
              </a:spcAft>
            </a:pPr>
            <a:r>
              <a:rPr sz="2000" i="1">
                <a:solidFill>
                  <a:srgbClr val="E8C495"/>
                </a:solidFill>
                <a:latin typeface="Calibri"/>
              </a:rPr>
              <a:t>9. Próximos pasos y conclusiones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4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5400" b="1" i="1">
                <a:solidFill>
                  <a:srgbClr val="D4A574"/>
                </a:solidFill>
                <a:latin typeface="Montserrat"/>
              </a:rPr>
              <a:t>EL PRODUCTO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5457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i="1" b="0">
                <a:solidFill>
                  <a:srgbClr val="E0E0E0"/>
                </a:solidFill>
                <a:latin typeface="Calibri"/>
              </a:rPr>
              <a:t>GymMax es una plataforma web integral construida bajo la arquitectura Java Enterprise Edition (JEE) que centraliza la gestión de cadenas de gimnasios: sedes, socios, membresías digitales y reservas de clases.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i="1">
                <a:solidFill>
                  <a:srgbClr val="E8C495"/>
                </a:solidFill>
                <a:latin typeface="Calibri"/>
              </a:rPr>
              <a:t>- Plataforma centralizada multi-sede</a:t>
            </a:r>
          </a:p>
          <a:p>
            <a:pPr algn="l">
              <a:spcAft>
                <a:spcPts val="1000"/>
              </a:spcAft>
            </a:pPr>
            <a:r>
              <a:rPr sz="1600" i="1">
                <a:solidFill>
                  <a:srgbClr val="E8C495"/>
                </a:solidFill>
                <a:latin typeface="Calibri"/>
              </a:rPr>
              <a:t>- Construida sobre Java EE + MySQL + Bootstrap 5.3</a:t>
            </a:r>
          </a:p>
          <a:p>
            <a:pPr algn="l">
              <a:spcAft>
                <a:spcPts val="1000"/>
              </a:spcAft>
            </a:pPr>
            <a:r>
              <a:rPr sz="1600" i="1">
                <a:solidFill>
                  <a:srgbClr val="E8C495"/>
                </a:solidFill>
                <a:latin typeface="Calibri"/>
              </a:rPr>
              <a:t>- Diseño Mobile First — accesible desde cualquier dispositivo</a:t>
            </a:r>
          </a:p>
          <a:p>
            <a:pPr algn="l">
              <a:spcAft>
                <a:spcPts val="1000"/>
              </a:spcAft>
            </a:pPr>
            <a:r>
              <a:rPr sz="1600" i="1">
                <a:solidFill>
                  <a:srgbClr val="E8C495"/>
                </a:solidFill>
                <a:latin typeface="Calibri"/>
              </a:rPr>
              <a:t>- Gestión completa del ciclo de vida del socio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5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 i="1">
                <a:solidFill>
                  <a:srgbClr val="D4A574"/>
                </a:solidFill>
                <a:latin typeface="Montserrat"/>
              </a:rPr>
              <a:t>INTRODUCCIÓN Y PROBLEMÁTICA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i="1" b="0">
                <a:solidFill>
                  <a:srgbClr val="E0E0E0"/>
                </a:solidFill>
                <a:latin typeface="Calibri"/>
              </a:rPr>
              <a:t>Los gimnasios en Perú enfrentan serios desafíos en la gestión manual de membresías, control de accesos y administración de sedes. Esta falta de automatización genera pérdida de ingresos, sobrecarga administrativa y mala experiencia para el socio.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 b="1">
                <a:solidFill>
                  <a:srgbClr val="D4A574"/>
                </a:solidFill>
                <a:latin typeface="Calibri"/>
              </a:rPr>
              <a:t>Problemas identificados: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i="1">
                <a:solidFill>
                  <a:srgbClr val="E8C495"/>
                </a:solidFill>
                <a:latin typeface="Calibri"/>
              </a:rPr>
              <a:t>- Pérdida de ingresos por nulo control de vencimientos</a:t>
            </a:r>
          </a:p>
          <a:p>
            <a:pPr algn="l">
              <a:spcAft>
                <a:spcPts val="800"/>
              </a:spcAft>
            </a:pPr>
            <a:r>
              <a:rPr sz="1500" i="1">
                <a:solidFill>
                  <a:srgbClr val="E8C495"/>
                </a:solidFill>
                <a:latin typeface="Calibri"/>
              </a:rPr>
              <a:t>- Sobrecarga administrativa y procesos manuales</a:t>
            </a:r>
          </a:p>
          <a:p>
            <a:pPr algn="l">
              <a:spcAft>
                <a:spcPts val="800"/>
              </a:spcAft>
            </a:pPr>
            <a:r>
              <a:rPr sz="1500" i="1">
                <a:solidFill>
                  <a:srgbClr val="E8C495"/>
                </a:solidFill>
                <a:latin typeface="Calibri"/>
              </a:rPr>
              <a:t>- Procesos lentos y largas colas en recepción</a:t>
            </a:r>
          </a:p>
          <a:p>
            <a:pPr algn="l">
              <a:spcAft>
                <a:spcPts val="800"/>
              </a:spcAft>
            </a:pPr>
            <a:r>
              <a:rPr sz="1500" i="1">
                <a:solidFill>
                  <a:srgbClr val="E8C495"/>
                </a:solidFill>
                <a:latin typeface="Calibri"/>
              </a:rPr>
              <a:t>- Mala experiencia del socio (no puede gestionar desde celular)</a:t>
            </a:r>
          </a:p>
          <a:p>
            <a:pPr algn="l">
              <a:spcAft>
                <a:spcPts val="800"/>
              </a:spcAft>
            </a:pPr>
            <a:r>
              <a:rPr sz="1500" i="1">
                <a:solidFill>
                  <a:srgbClr val="E8C495"/>
                </a:solidFill>
                <a:latin typeface="Calibri"/>
              </a:rPr>
              <a:t>- Sistemas existentes con lentitud y caídas en horas pico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6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 i="1">
                <a:solidFill>
                  <a:srgbClr val="D4A574"/>
                </a:solidFill>
                <a:latin typeface="Montserrat"/>
              </a:rPr>
              <a:t>OBJETIVO DEL PROYECTO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 b="1">
                <a:solidFill>
                  <a:srgbClr val="E8C495"/>
                </a:solidFill>
                <a:latin typeface="Calibri"/>
              </a:rPr>
              <a:t>Desarrollar una aplicación web integral bajo la arquitectura Java Enterprise Edition (JEE) que centralice la visualización de sedes, el registro de socios y la venta de membresías digitales. Para lograrlo se implementarán módulos de consulta de sedes con horarios y servicios, un formulario de registro responsive con validación en tiempo real almacenado en MySQL, y un sistema de gestión de planes que permita renovaciones autónomas. Todo el diseño se basará en una interfaz "Mobile First" utilizando Bootstrap 5.3 para garantizar accesibilidad total.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7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400" b="1" i="1">
                <a:solidFill>
                  <a:srgbClr val="D4A574"/>
                </a:solidFill>
                <a:latin typeface="Montserrat"/>
              </a:rPr>
              <a:t>OBJETIVOS ESPECÍFICOS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i="1">
                <a:solidFill>
                  <a:srgbClr val="E8C495"/>
                </a:solidFill>
                <a:latin typeface="Calibri"/>
              </a:rPr>
              <a:t>- Implementar un módulo que permita visualizar todas las sedes disponibles, incluyendo ubicación, horarios, servicios y cupos por clase.</a:t>
            </a:r>
          </a:p>
          <a:p>
            <a:pPr algn="l">
              <a:spcAft>
                <a:spcPts val="1400"/>
              </a:spcAft>
            </a:pPr>
            <a:r>
              <a:rPr sz="1400" i="1">
                <a:solidFill>
                  <a:srgbClr val="E8C495"/>
                </a:solidFill>
                <a:latin typeface="Calibri"/>
              </a:rPr>
              <a:t>- Desarrollar un formulario web intuitivo y responsive para registro de socios con validación en tiempo real y almacenamiento seguro en MySQL.</a:t>
            </a:r>
          </a:p>
          <a:p>
            <a:pPr algn="l">
              <a:spcAft>
                <a:spcPts val="1400"/>
              </a:spcAft>
            </a:pPr>
            <a:r>
              <a:rPr sz="1400" i="1">
                <a:solidFill>
                  <a:srgbClr val="E8C495"/>
                </a:solidFill>
                <a:latin typeface="Calibri"/>
              </a:rPr>
              <a:t>- Crear un sistema de gestión de planes (básico, premium, anual) con renovación autónoma, cálculo de vencimiento y comprobante digital.</a:t>
            </a:r>
          </a:p>
          <a:p>
            <a:pPr algn="l">
              <a:spcAft>
                <a:spcPts val="1400"/>
              </a:spcAft>
            </a:pPr>
            <a:r>
              <a:rPr sz="1400" i="1">
                <a:solidFill>
                  <a:srgbClr val="E8C495"/>
                </a:solidFill>
                <a:latin typeface="Calibri"/>
              </a:rPr>
              <a:t>- Diseñar una interfaz Mobile First con Bootstrap 5.3, intuitiva y accesible desde cualquier dispositivo.</a:t>
            </a:r>
          </a:p>
          <a:p>
            <a:pPr algn="l">
              <a:spcAft>
                <a:spcPts val="1400"/>
              </a:spcAft>
            </a:pPr>
            <a:r>
              <a:rPr sz="1400" i="1">
                <a:solidFill>
                  <a:srgbClr val="E8C495"/>
                </a:solidFill>
                <a:latin typeface="Calibri"/>
              </a:rPr>
              <a:t>- Implementar panel administrativo con KPIs en tiempo real, CRUD de entidades y reportes exportables a Excel y PDF.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8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400" b="1" i="1">
                <a:solidFill>
                  <a:srgbClr val="D4A574"/>
                </a:solidFill>
                <a:latin typeface="Montserrat"/>
              </a:rPr>
              <a:t>ALCANCE DEL 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105457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 b="0">
                <a:solidFill>
                  <a:srgbClr val="E0E0E0"/>
                </a:solidFill>
                <a:latin typeface="Calibri"/>
              </a:rPr>
              <a:t>Plataforma web centralizada que permite la gestión completa del ciclo de vida del socio: desde el registro inicial y la compra de membresías hasta la reserva de clases por sede. Incluye panel administrativo, reportes en tiempo real y arquitectura JEE escalable.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 b="1">
                <a:solidFill>
                  <a:srgbClr val="D4A574"/>
                </a:solidFill>
                <a:latin typeface="Calibri"/>
              </a:rPr>
              <a:t>SÍ incluye: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i="1">
                <a:solidFill>
                  <a:srgbClr val="E8C495"/>
                </a:solidFill>
                <a:latin typeface="Calibri"/>
              </a:rPr>
              <a:t>- Multi-sede, multi-rol (Socio + Admin)</a:t>
            </a:r>
          </a:p>
          <a:p>
            <a:pPr algn="l">
              <a:spcAft>
                <a:spcPts val="400"/>
              </a:spcAft>
            </a:pPr>
            <a:r>
              <a:rPr sz="1200" i="1">
                <a:solidFill>
                  <a:srgbClr val="E8C495"/>
                </a:solidFill>
                <a:latin typeface="Calibri"/>
              </a:rPr>
              <a:t>- Membresías digitales y pagos online</a:t>
            </a:r>
          </a:p>
          <a:p>
            <a:pPr algn="l">
              <a:spcAft>
                <a:spcPts val="400"/>
              </a:spcAft>
            </a:pPr>
            <a:r>
              <a:rPr sz="1200" i="1">
                <a:solidFill>
                  <a:srgbClr val="E8C495"/>
                </a:solidFill>
                <a:latin typeface="Calibri"/>
              </a:rPr>
              <a:t>- Dashboard con KPIs y reportes exportables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406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 b="1">
                <a:solidFill>
                  <a:srgbClr val="D4A574"/>
                </a:solidFill>
                <a:latin typeface="Calibri"/>
              </a:rPr>
              <a:t>NO incluye: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0644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i="1">
                <a:solidFill>
                  <a:srgbClr val="E8C495"/>
                </a:solidFill>
                <a:latin typeface="Calibri"/>
              </a:rPr>
              <a:t>- Pagos en efectivo (solo digitales)</a:t>
            </a:r>
          </a:p>
          <a:p>
            <a:pPr algn="l">
              <a:spcAft>
                <a:spcPts val="200"/>
              </a:spcAft>
            </a:pPr>
            <a:r>
              <a:rPr sz="1200" i="1">
                <a:solidFill>
                  <a:srgbClr val="E8C495"/>
                </a:solidFill>
                <a:latin typeface="Calibri"/>
              </a:rPr>
              <a:t>- App móvil nativa (Android/iOS)</a:t>
            </a:r>
          </a:p>
          <a:p>
            <a:pPr algn="l">
              <a:spcAft>
                <a:spcPts val="200"/>
              </a:spcAft>
            </a:pPr>
            <a:r>
              <a:rPr sz="1200" i="1">
                <a:solidFill>
                  <a:srgbClr val="E8C495"/>
                </a:solidFill>
                <a:latin typeface="Calibri"/>
              </a:rPr>
              <a:t>- Integración biométrica de accesos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9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800" b="1" i="1">
                <a:solidFill>
                  <a:srgbClr val="D4A574"/>
                </a:solidFill>
                <a:latin typeface="Montserrat"/>
              </a:rPr>
              <a:t>CARACTERÍSTICAS DEL PRODUCTO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i="1">
                <a:solidFill>
                  <a:srgbClr val="E8C495"/>
                </a:solidFill>
                <a:latin typeface="Calibri"/>
              </a:rPr>
              <a:t>- Gestión multi-sede centralizada</a:t>
            </a:r>
          </a:p>
          <a:p>
            <a:pPr algn="l">
              <a:spcAft>
                <a:spcPts val="600"/>
              </a:spcAft>
            </a:pPr>
            <a:r>
              <a:rPr sz="1400" i="1">
                <a:solidFill>
                  <a:srgbClr val="E8C495"/>
                </a:solidFill>
                <a:latin typeface="Calibri"/>
              </a:rPr>
              <a:t>- Sistema de roles diferenciados (Socio / Administrador)</a:t>
            </a:r>
          </a:p>
          <a:p>
            <a:pPr algn="l">
              <a:spcAft>
                <a:spcPts val="600"/>
              </a:spcAft>
            </a:pPr>
            <a:r>
              <a:rPr sz="1400" i="1">
                <a:solidFill>
                  <a:srgbClr val="E8C495"/>
                </a:solidFill>
                <a:latin typeface="Calibri"/>
              </a:rPr>
              <a:t>- Registro y autenticación con validación en tiempo real</a:t>
            </a:r>
          </a:p>
          <a:p>
            <a:pPr algn="l">
              <a:spcAft>
                <a:spcPts val="600"/>
              </a:spcAft>
            </a:pPr>
            <a:r>
              <a:rPr sz="1400" i="1">
                <a:solidFill>
                  <a:srgbClr val="E8C495"/>
                </a:solidFill>
                <a:latin typeface="Calibri"/>
              </a:rPr>
              <a:t>- Membresías digitales (Básico, Premium, Anual)</a:t>
            </a:r>
          </a:p>
          <a:p>
            <a:pPr algn="l">
              <a:spcAft>
                <a:spcPts val="600"/>
              </a:spcAft>
            </a:pPr>
            <a:r>
              <a:rPr sz="1400" i="1">
                <a:solidFill>
                  <a:srgbClr val="E8C495"/>
                </a:solidFill>
                <a:latin typeface="Calibri"/>
              </a:rPr>
              <a:t>- Reserva de clases online con control de cupos</a:t>
            </a:r>
          </a:p>
          <a:p>
            <a:pPr algn="l">
              <a:spcAft>
                <a:spcPts val="600"/>
              </a:spcAft>
            </a:pPr>
            <a:r>
              <a:rPr sz="1400" i="1">
                <a:solidFill>
                  <a:srgbClr val="E8C495"/>
                </a:solidFill>
                <a:latin typeface="Calibri"/>
              </a:rPr>
              <a:t>- Pagos digitales: Yape, Plin, Tarjeta</a:t>
            </a:r>
          </a:p>
          <a:p>
            <a:pPr algn="l">
              <a:spcAft>
                <a:spcPts val="600"/>
              </a:spcAft>
            </a:pPr>
            <a:r>
              <a:rPr sz="1400" i="1">
                <a:solidFill>
                  <a:srgbClr val="E8C495"/>
                </a:solidFill>
                <a:latin typeface="Calibri"/>
              </a:rPr>
              <a:t>- Dashboard administrativo con KPIs en tiempo real</a:t>
            </a:r>
          </a:p>
          <a:p>
            <a:pPr algn="l">
              <a:spcAft>
                <a:spcPts val="600"/>
              </a:spcAft>
            </a:pPr>
            <a:r>
              <a:rPr sz="1400" i="1">
                <a:solidFill>
                  <a:srgbClr val="E8C495"/>
                </a:solidFill>
                <a:latin typeface="Calibri"/>
              </a:rPr>
              <a:t>- Reportes filtrables y exportación a Excel / PDF</a:t>
            </a:r>
          </a:p>
          <a:p>
            <a:pPr algn="l">
              <a:spcAft>
                <a:spcPts val="600"/>
              </a:spcAft>
            </a:pPr>
            <a:r>
              <a:rPr sz="1400" i="1">
                <a:solidFill>
                  <a:srgbClr val="E8C495"/>
                </a:solidFill>
                <a:latin typeface="Calibri"/>
              </a:rPr>
              <a:t>- Diseño Mobile First con Bootstrap 5.3</a:t>
            </a:r>
          </a:p>
          <a:p>
            <a:pPr algn="l">
              <a:spcAft>
                <a:spcPts val="600"/>
              </a:spcAft>
            </a:pPr>
            <a:r>
              <a:rPr sz="1400" i="1">
                <a:solidFill>
                  <a:srgbClr val="E8C495"/>
                </a:solidFill>
                <a:latin typeface="Calibri"/>
              </a:rPr>
              <a:t>- Arquitectura por capas MVC + DAO + Facade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10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400" b="1" i="1">
                <a:solidFill>
                  <a:srgbClr val="D4A574"/>
                </a:solidFill>
                <a:latin typeface="Montserrat"/>
              </a:rPr>
              <a:t>PRODUCT 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 b="0">
                <a:solidFill>
                  <a:srgbClr val="E0E0E0"/>
                </a:solidFill>
                <a:latin typeface="Calibri"/>
              </a:rPr>
              <a:t>28 requerimientos funcionales + 12 no funcionales distribuidos en 5 sprints.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71600" y="2286000"/>
          <a:ext cx="9418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  <a:gridCol w="2354580"/>
                <a:gridCol w="235458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0A0A"/>
                          </a:solidFill>
                          <a:latin typeface="Calibri"/>
                        </a:rPr>
                        <a:t>Sprint</a:t>
                      </a:r>
                    </a:p>
                  </a:txBody>
                  <a:tcPr>
                    <a:solidFill>
                      <a:srgbClr val="D4A5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0A0A"/>
                          </a:solidFill>
                          <a:latin typeface="Calibri"/>
                        </a:rPr>
                        <a:t>Foco</a:t>
                      </a:r>
                    </a:p>
                  </a:txBody>
                  <a:tcPr>
                    <a:solidFill>
                      <a:srgbClr val="D4A5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0A0A"/>
                          </a:solidFill>
                          <a:latin typeface="Calibri"/>
                        </a:rPr>
                        <a:t>Items</a:t>
                      </a:r>
                    </a:p>
                  </a:txBody>
                  <a:tcPr>
                    <a:solidFill>
                      <a:srgbClr val="D4A5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0A0A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D4A57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Autenticación + base socio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RF-01, 02, 04, 05, 06, 18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Sedes, clases y reservas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RF-07, 08, 09, 10, 11, 19, 20, 21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Membresías y pagos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RF-03, 12, 13, 14, 15, 16, 17, 22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Reportes y asistencias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RF-23, 24, 25, 26, 28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Notificaciones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RF-27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0E0E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2960" y="5760720"/>
            <a:ext cx="105457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 b="0">
                <a:solidFill>
                  <a:srgbClr val="D4A574"/>
                </a:solidFill>
                <a:latin typeface="Calibri"/>
              </a:rPr>
              <a:t>Total: 134 Story Points en 5 sprints.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11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 i="1">
                <a:solidFill>
                  <a:srgbClr val="D4A574"/>
                </a:solidFill>
                <a:latin typeface="Montserrat"/>
              </a:rPr>
              <a:t>USER STORIES DESTACADAS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 b="1">
                <a:solidFill>
                  <a:srgbClr val="D4A574"/>
                </a:solidFill>
                <a:latin typeface="Calibri"/>
              </a:rPr>
              <a:t>US-08 — Reservar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 b="0">
                <a:solidFill>
                  <a:srgbClr val="E0E0E0"/>
                </a:solidFill>
                <a:latin typeface="Calibri"/>
              </a:rPr>
              <a:t>Como socio con membresía activa quiero reservar una clase para asegurar mi cupo. Verifica membresía + cupos + duplicado.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175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 b="1">
                <a:solidFill>
                  <a:srgbClr val="D4A574"/>
                </a:solidFill>
                <a:latin typeface="Calibri"/>
              </a:rPr>
              <a:t>US-14 — Dashboard administrativo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 b="0">
                <a:solidFill>
                  <a:srgbClr val="E0E0E0"/>
                </a:solidFill>
                <a:latin typeface="Calibri"/>
              </a:rPr>
              <a:t>Como admin quiero ver KPIs en tiempo real para decidir. 4 KPIs + variación porcentual + gráfico de ingresos últimos 6 meses.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 b="1">
                <a:solidFill>
                  <a:srgbClr val="D4A574"/>
                </a:solidFill>
                <a:latin typeface="Calibri"/>
              </a:rPr>
              <a:t>US-17 — Generación de reportes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 b="0">
                <a:solidFill>
                  <a:srgbClr val="E0E0E0"/>
                </a:solidFill>
                <a:latin typeface="Calibri"/>
              </a:rPr>
              <a:t>Como admin quiero reportes filtrables (4 tipos) con exportación a Excel y PDF para compartirlos con la gerencia.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52160"/>
            <a:ext cx="105457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 b="0">
                <a:solidFill>
                  <a:srgbClr val="9A9A9A"/>
                </a:solidFill>
                <a:latin typeface="Calibri"/>
              </a:rPr>
              <a:t>El informe Word contiene las 18 historias completas con criterios de aceptación.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12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 i="1">
                <a:solidFill>
                  <a:srgbClr val="D4A574"/>
                </a:solidFill>
                <a:latin typeface="Montserrat"/>
              </a:rPr>
              <a:t>FLUJO DE NAVEGACIÓN — SOCIO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828800"/>
            <a:ext cx="9144000" cy="3657600"/>
          </a:xfrm>
          <a:prstGeom prst="rect">
            <a:avLst/>
          </a:prstGeom>
          <a:solidFill>
            <a:srgbClr val="222222"/>
          </a:solidFill>
          <a:ln w="190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400" b="1" i="1">
                <a:solidFill>
                  <a:srgbClr val="D4A574"/>
                </a:solidFill>
                <a:latin typeface="Calibri"/>
              </a:rPr>
              <a:t>[ INSERTAR DIAGRAMA DE FLUJO SOCIO (del Avance 01)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105457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 b="0">
                <a:solidFill>
                  <a:srgbClr val="E8C495"/>
                </a:solidFill>
                <a:latin typeface="Calibri"/>
              </a:rPr>
              <a:t>Login → validar credenciales → Dashboard del socio → Ver sedes / Reservar clase / Mis reservas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13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1" i="1">
                <a:solidFill>
                  <a:srgbClr val="D4A574"/>
                </a:solidFill>
                <a:latin typeface="Montserrat"/>
              </a:rPr>
              <a:t>FLUJO DE NAVEGACIÓN — ADMINISTRADOR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828800"/>
            <a:ext cx="9144000" cy="3657600"/>
          </a:xfrm>
          <a:prstGeom prst="rect">
            <a:avLst/>
          </a:prstGeom>
          <a:solidFill>
            <a:srgbClr val="222222"/>
          </a:solidFill>
          <a:ln w="190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400" b="1" i="1">
                <a:solidFill>
                  <a:srgbClr val="D4A574"/>
                </a:solidFill>
                <a:latin typeface="Calibri"/>
              </a:rPr>
              <a:t>[ INSERTAR DIAGRAMA DE FLUJO ADMIN (del Avance 01)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105457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 b="0">
                <a:solidFill>
                  <a:srgbClr val="E8C495"/>
                </a:solidFill>
                <a:latin typeface="Calibri"/>
              </a:rPr>
              <a:t>Login → validar rol ADMIN → Dashboard administrativo → Gestión socios / Gestión sedes / Reportes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14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 i="1">
                <a:solidFill>
                  <a:srgbClr val="D4A574"/>
                </a:solidFill>
                <a:latin typeface="Montserrat"/>
              </a:rPr>
              <a:t>WIREFRAMES MOBILE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3383280" cy="4114800"/>
          </a:xfrm>
          <a:prstGeom prst="rect">
            <a:avLst/>
          </a:prstGeom>
          <a:solidFill>
            <a:srgbClr val="222222"/>
          </a:solidFill>
          <a:ln w="190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400" b="1" i="1">
                <a:solidFill>
                  <a:srgbClr val="D4A574"/>
                </a:solidFill>
                <a:latin typeface="Calibri"/>
              </a:rPr>
              <a:t>[ Login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3383280" cy="4114800"/>
          </a:xfrm>
          <a:prstGeom prst="rect">
            <a:avLst/>
          </a:prstGeom>
          <a:solidFill>
            <a:srgbClr val="222222"/>
          </a:solidFill>
          <a:ln w="190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400" b="1" i="1">
                <a:solidFill>
                  <a:srgbClr val="D4A574"/>
                </a:solidFill>
                <a:latin typeface="Calibri"/>
              </a:rPr>
              <a:t>[ Registro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383280" cy="4114800"/>
          </a:xfrm>
          <a:prstGeom prst="rect">
            <a:avLst/>
          </a:prstGeom>
          <a:solidFill>
            <a:srgbClr val="222222"/>
          </a:solidFill>
          <a:ln w="190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400" b="1" i="1">
                <a:solidFill>
                  <a:srgbClr val="D4A574"/>
                </a:solidFill>
                <a:latin typeface="Calibri"/>
              </a:rPr>
              <a:t>[ Dashboard Socio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15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 i="1">
                <a:solidFill>
                  <a:srgbClr val="D4A574"/>
                </a:solidFill>
                <a:latin typeface="Montserrat"/>
              </a:rPr>
              <a:t>WIREFRAMES MOBILE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3383280" cy="4114800"/>
          </a:xfrm>
          <a:prstGeom prst="rect">
            <a:avLst/>
          </a:prstGeom>
          <a:solidFill>
            <a:srgbClr val="222222"/>
          </a:solidFill>
          <a:ln w="190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400" b="1" i="1">
                <a:solidFill>
                  <a:srgbClr val="D4A574"/>
                </a:solidFill>
                <a:latin typeface="Calibri"/>
              </a:rPr>
              <a:t>[ Listado Sedes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3383280" cy="4114800"/>
          </a:xfrm>
          <a:prstGeom prst="rect">
            <a:avLst/>
          </a:prstGeom>
          <a:solidFill>
            <a:srgbClr val="222222"/>
          </a:solidFill>
          <a:ln w="190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400" b="1" i="1">
                <a:solidFill>
                  <a:srgbClr val="D4A574"/>
                </a:solidFill>
                <a:latin typeface="Calibri"/>
              </a:rPr>
              <a:t>[ Reservar Clase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383280" cy="4114800"/>
          </a:xfrm>
          <a:prstGeom prst="rect">
            <a:avLst/>
          </a:prstGeom>
          <a:solidFill>
            <a:srgbClr val="222222"/>
          </a:solidFill>
          <a:ln w="190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400" b="1" i="1">
                <a:solidFill>
                  <a:srgbClr val="D4A574"/>
                </a:solidFill>
                <a:latin typeface="Calibri"/>
              </a:rPr>
              <a:t>[ Mis Reservas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16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 i="1">
                <a:solidFill>
                  <a:srgbClr val="D4A574"/>
                </a:solidFill>
                <a:latin typeface="Montserrat"/>
              </a:rPr>
              <a:t>WIREFRAMES DESKTOP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5394960" cy="4114800"/>
          </a:xfrm>
          <a:prstGeom prst="rect">
            <a:avLst/>
          </a:prstGeom>
          <a:solidFill>
            <a:srgbClr val="222222"/>
          </a:solidFill>
          <a:ln w="190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400" b="1" i="1">
                <a:solidFill>
                  <a:srgbClr val="D4A574"/>
                </a:solidFill>
                <a:latin typeface="Calibri"/>
              </a:rPr>
              <a:t>[ Dashboard Admin (KPIs)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828800"/>
            <a:ext cx="5120640" cy="4114800"/>
          </a:xfrm>
          <a:prstGeom prst="rect">
            <a:avLst/>
          </a:prstGeom>
          <a:solidFill>
            <a:srgbClr val="222222"/>
          </a:solidFill>
          <a:ln w="190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400" b="1" i="1">
                <a:solidFill>
                  <a:srgbClr val="D4A574"/>
                </a:solidFill>
                <a:latin typeface="Calibri"/>
              </a:rPr>
              <a:t>[ Gestión de Socios 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17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800" b="1" i="1">
                <a:solidFill>
                  <a:srgbClr val="D4A574"/>
                </a:solidFill>
                <a:latin typeface="Montserrat"/>
              </a:rPr>
              <a:t>REPORTES — VERSIÓN DESKTOP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828800"/>
            <a:ext cx="8503920" cy="4114800"/>
          </a:xfrm>
          <a:prstGeom prst="rect">
            <a:avLst/>
          </a:prstGeom>
          <a:solidFill>
            <a:srgbClr val="222222"/>
          </a:solidFill>
          <a:ln w="190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400" b="1" i="1">
                <a:solidFill>
                  <a:srgbClr val="D4A574"/>
                </a:solidFill>
                <a:latin typeface="Calibri"/>
              </a:rPr>
              <a:t>[ Generación de Reportes con gráfico y tabla 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18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400" b="1" i="1">
                <a:solidFill>
                  <a:srgbClr val="D4A574"/>
                </a:solidFill>
                <a:latin typeface="Montserrat"/>
              </a:rPr>
              <a:t>MODELO DE BASE DE DATOS — LÓGICO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737360"/>
            <a:ext cx="10332720" cy="3657600"/>
          </a:xfrm>
          <a:prstGeom prst="rect">
            <a:avLst/>
          </a:prstGeom>
          <a:solidFill>
            <a:srgbClr val="222222"/>
          </a:solidFill>
          <a:ln w="190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400" b="1" i="1">
                <a:solidFill>
                  <a:srgbClr val="D4A574"/>
                </a:solidFill>
                <a:latin typeface="Calibri"/>
              </a:rPr>
              <a:t>[ Diagrama Lógico (Draw.io / Lucid Chart)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5457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 b="0">
                <a:solidFill>
                  <a:srgbClr val="E8C495"/>
                </a:solidFill>
                <a:latin typeface="Calibri"/>
              </a:rPr>
              <a:t>10 entidades · 10 relaciones · sin tipos de dato · orientado al negocio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19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400" b="1" i="1">
                <a:solidFill>
                  <a:srgbClr val="D4A574"/>
                </a:solidFill>
                <a:latin typeface="Montserrat"/>
              </a:rPr>
              <a:t>MODELO DE BASE DE DATOS — FÍSICO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737360"/>
            <a:ext cx="10332720" cy="3657600"/>
          </a:xfrm>
          <a:prstGeom prst="rect">
            <a:avLst/>
          </a:prstGeom>
          <a:solidFill>
            <a:srgbClr val="222222"/>
          </a:solidFill>
          <a:ln w="190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400" b="1" i="1">
                <a:solidFill>
                  <a:srgbClr val="D4A574"/>
                </a:solidFill>
                <a:latin typeface="Calibri"/>
              </a:rPr>
              <a:t>[ Diagrama Físico MySQL 8.0 (Draw.io / Lucid Chart)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5457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 b="0">
                <a:solidFill>
                  <a:srgbClr val="E8C495"/>
                </a:solidFill>
                <a:latin typeface="Calibri"/>
              </a:rPr>
              <a:t>Motor InnoDB · charset utf8mb4 · 10 tablas con tipos MySQL · PKs, FKs, ENUMs, índices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20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400" b="1" i="1">
                <a:solidFill>
                  <a:srgbClr val="D4A574"/>
                </a:solidFill>
                <a:latin typeface="Montserrat"/>
              </a:rPr>
              <a:t>STACK TECNOLÓGICO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28800" y="1828800"/>
          <a:ext cx="8503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/>
                <a:gridCol w="4251960"/>
              </a:tblGrid>
              <a:tr h="39069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A0A0A"/>
                          </a:solidFill>
                          <a:latin typeface="Calibri"/>
                        </a:rPr>
                        <a:t>Capa</a:t>
                      </a:r>
                    </a:p>
                  </a:txBody>
                  <a:tcPr>
                    <a:solidFill>
                      <a:srgbClr val="D4A5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A0A0A"/>
                          </a:solidFill>
                          <a:latin typeface="Calibri"/>
                        </a:rPr>
                        <a:t>Tecnología</a:t>
                      </a:r>
                    </a:p>
                  </a:txBody>
                  <a:tcPr>
                    <a:solidFill>
                      <a:srgbClr val="D4A574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Lenguaje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Java 11 + Jakarta EE 10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JSP + HTML5 + Bootstrap 5.3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Controlador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Servlets Jakarta 6.0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Lógica negocio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Facades (POJO)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Persistencia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JDBC + DAO + Connector/J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Base de datos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MySQL 8.0 Community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Servidor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Apache Tomcat 10.1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IDE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NetBeans 21+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Modelado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Draw.io / Lucid Chart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Metodología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Scrum (sprints 2 semanas)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21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 i="1">
                <a:solidFill>
                  <a:srgbClr val="D4A574"/>
                </a:solidFill>
                <a:latin typeface="Montserrat"/>
              </a:rPr>
              <a:t>DIAGRAMA DE CLASES UML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737360"/>
            <a:ext cx="10332720" cy="3657600"/>
          </a:xfrm>
          <a:prstGeom prst="rect">
            <a:avLst/>
          </a:prstGeom>
          <a:solidFill>
            <a:srgbClr val="222222"/>
          </a:solidFill>
          <a:ln w="190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400" b="1" i="1">
                <a:solidFill>
                  <a:srgbClr val="D4A574"/>
                </a:solidFill>
                <a:latin typeface="Calibri"/>
              </a:rPr>
              <a:t>[ DTOs + DAOs (interfaces + implementaciones)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 b="0">
                <a:solidFill>
                  <a:srgbClr val="E8C495"/>
                </a:solidFill>
                <a:latin typeface="Calibri"/>
              </a:rPr>
              <a:t>10 DTOs (modelo de datos) + 9 interfaces DAO + 9 implementaciones JDBC. Programación a interfaces para desacoplar persistencia.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22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 i="1">
                <a:solidFill>
                  <a:srgbClr val="D4A574"/>
                </a:solidFill>
                <a:latin typeface="Montserrat"/>
              </a:rPr>
              <a:t>DIAGRAMA DE CLASES UML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737360"/>
            <a:ext cx="10332720" cy="3657600"/>
          </a:xfrm>
          <a:prstGeom prst="rect">
            <a:avLst/>
          </a:prstGeom>
          <a:solidFill>
            <a:srgbClr val="222222"/>
          </a:solidFill>
          <a:ln w="1905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400" b="1" i="1">
                <a:solidFill>
                  <a:srgbClr val="D4A574"/>
                </a:solidFill>
                <a:latin typeface="Calibri"/>
              </a:rPr>
              <a:t>[ Facades + Servlets + Conexion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 b="0">
                <a:solidFill>
                  <a:srgbClr val="E8C495"/>
                </a:solidFill>
                <a:latin typeface="Calibri"/>
              </a:rPr>
              <a:t>5 Facades (lógica de negocio) · 5 Servlets (controladores MVC) · 1 Conexion singleton. Total: 39 clases.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23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400" b="1" i="1">
                <a:solidFill>
                  <a:srgbClr val="D4A574"/>
                </a:solidFill>
                <a:latin typeface="Montserrat"/>
              </a:rPr>
              <a:t>DICCIONARIO DE CLASES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0" y="1828800"/>
          <a:ext cx="6675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333756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A0A0A"/>
                          </a:solidFill>
                          <a:latin typeface="Calibri"/>
                        </a:rPr>
                        <a:t>Capa</a:t>
                      </a:r>
                    </a:p>
                  </a:txBody>
                  <a:tcPr>
                    <a:solidFill>
                      <a:srgbClr val="D4A5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A0A0A"/>
                          </a:solidFill>
                          <a:latin typeface="Calibri"/>
                        </a:rPr>
                        <a:t>Cantidad</a:t>
                      </a:r>
                    </a:p>
                  </a:txBody>
                  <a:tcPr>
                    <a:solidFill>
                      <a:srgbClr val="D4A57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DTO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10 clases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DAO interfaces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DAO implementaciones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Facades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Controllers (Servlets)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Utilitaria (Conexion)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0E0E0"/>
                          </a:solidFill>
                          <a:latin typeface="Calibri"/>
                        </a:rPr>
                        <a:t>39 clases</a:t>
                      </a:r>
                    </a:p>
                  </a:txBody>
                  <a:tcPr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5852160"/>
            <a:ext cx="105457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 b="0">
                <a:solidFill>
                  <a:srgbClr val="E8C495"/>
                </a:solidFill>
                <a:latin typeface="Calibri"/>
              </a:rPr>
              <a:t>El informe Word contiene la descripción detallada de cada clase con atributos, métodos, parámetros y reglas de negocio.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24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800" b="1" i="1">
                <a:solidFill>
                  <a:srgbClr val="D4A574"/>
                </a:solidFill>
                <a:latin typeface="Montserrat"/>
              </a:rPr>
              <a:t>PATRONES DE DISEÑO APLICADOS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i="1">
                <a:solidFill>
                  <a:srgbClr val="E8C495"/>
                </a:solidFill>
                <a:latin typeface="Calibri"/>
              </a:rPr>
              <a:t>- MVC  ·  Model (DTO) — View (JSP) — Controller (Servlet)</a:t>
            </a:r>
          </a:p>
          <a:p>
            <a:pPr algn="l">
              <a:spcAft>
                <a:spcPts val="1400"/>
              </a:spcAft>
            </a:pPr>
            <a:r>
              <a:rPr sz="1600" i="1">
                <a:solidFill>
                  <a:srgbClr val="E8C495"/>
                </a:solidFill>
                <a:latin typeface="Calibri"/>
              </a:rPr>
              <a:t>- DAO  ·  Aislamiento del acceso a datos mediante interfaces + implementación</a:t>
            </a:r>
          </a:p>
          <a:p>
            <a:pPr algn="l">
              <a:spcAft>
                <a:spcPts val="1400"/>
              </a:spcAft>
            </a:pPr>
            <a:r>
              <a:rPr sz="1600" i="1">
                <a:solidFill>
                  <a:srgbClr val="E8C495"/>
                </a:solidFill>
                <a:latin typeface="Calibri"/>
              </a:rPr>
              <a:t>- Facade  ·  Encapsulamiento de la lógica de negocio entre Controller y DAO</a:t>
            </a:r>
          </a:p>
          <a:p>
            <a:pPr algn="l">
              <a:spcAft>
                <a:spcPts val="1400"/>
              </a:spcAft>
            </a:pPr>
            <a:r>
              <a:rPr sz="1600" i="1">
                <a:solidFill>
                  <a:srgbClr val="E8C495"/>
                </a:solidFill>
                <a:latin typeface="Calibri"/>
              </a:rPr>
              <a:t>- Singleton  ·  Helper único de conexión JDBC (Conexion.java)</a:t>
            </a:r>
          </a:p>
          <a:p>
            <a:pPr algn="l">
              <a:spcAft>
                <a:spcPts val="1400"/>
              </a:spcAft>
            </a:pPr>
            <a:r>
              <a:rPr sz="1600" i="1">
                <a:solidFill>
                  <a:srgbClr val="E8C495"/>
                </a:solidFill>
                <a:latin typeface="Calibri"/>
              </a:rPr>
              <a:t>- DTO  ·  Objetos planos que transportan datos entre capas</a:t>
            </a:r>
          </a:p>
          <a:p>
            <a:pPr algn="l">
              <a:spcAft>
                <a:spcPts val="1400"/>
              </a:spcAft>
            </a:pPr>
            <a:r>
              <a:rPr sz="1600" i="1">
                <a:solidFill>
                  <a:srgbClr val="E8C495"/>
                </a:solidFill>
                <a:latin typeface="Calibri"/>
              </a:rPr>
              <a:t>- Programación a interfaces  ·  Bajo acoplamiento, fácil testing y mantenimiento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25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800" b="1" i="1">
                <a:solidFill>
                  <a:srgbClr val="D4A574"/>
                </a:solidFill>
                <a:latin typeface="Montserrat"/>
              </a:rPr>
              <a:t>HOJA DE RUTA — ENTREGA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1500" i="1">
                <a:solidFill>
                  <a:srgbClr val="E8C495"/>
                </a:solidFill>
                <a:latin typeface="Calibri"/>
              </a:rPr>
              <a:t>- Sprint 1-2  (Semanas 11-12)  ·  Autenticación + dashboard socio + listado de sedes</a:t>
            </a:r>
          </a:p>
          <a:p>
            <a:pPr algn="l">
              <a:spcAft>
                <a:spcPts val="2000"/>
              </a:spcAft>
            </a:pPr>
            <a:r>
              <a:rPr sz="1500" i="1">
                <a:solidFill>
                  <a:srgbClr val="E8C495"/>
                </a:solidFill>
                <a:latin typeface="Calibri"/>
              </a:rPr>
              <a:t>- Sprint 3    (Semana 13)        ·  Reservas de clases + membresías y pagos</a:t>
            </a:r>
          </a:p>
          <a:p>
            <a:pPr algn="l">
              <a:spcAft>
                <a:spcPts val="2000"/>
              </a:spcAft>
            </a:pPr>
            <a:r>
              <a:rPr sz="1500" i="1">
                <a:solidFill>
                  <a:srgbClr val="E8C495"/>
                </a:solidFill>
                <a:latin typeface="Calibri"/>
              </a:rPr>
              <a:t>- Sprint 4    (Semana 14)        ·  Panel administrativo + reportes + exportación</a:t>
            </a:r>
          </a:p>
          <a:p>
            <a:pPr algn="l">
              <a:spcAft>
                <a:spcPts val="2000"/>
              </a:spcAft>
            </a:pPr>
            <a:r>
              <a:rPr sz="1500" i="1">
                <a:solidFill>
                  <a:srgbClr val="E8C495"/>
                </a:solidFill>
                <a:latin typeface="Calibri"/>
              </a:rPr>
              <a:t>- Sprint 5    (Semana 15)        ·  Notificaciones + pruebas integrales + documentación final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502920"/>
            <a:ext cx="292608" cy="29260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67160" y="502920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67160" y="553212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67160" y="6035040"/>
            <a:ext cx="256032" cy="256032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430000" y="6537960"/>
            <a:ext cx="502920" cy="164592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286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 b="1">
                <a:solidFill>
                  <a:srgbClr val="D4A574"/>
                </a:solidFill>
                <a:latin typeface="Montserrat"/>
              </a:rPr>
              <a:t>GYMMAX  ·  AVANCE 02  ·  DESARROLLO WEB INTEGRADO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26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072865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5400" b="1" i="1">
                <a:solidFill>
                  <a:srgbClr val="D4A574"/>
                </a:solidFill>
                <a:latin typeface="Montserrat"/>
              </a:rPr>
              <a:t>CONCLUSIONES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600" i="1">
                <a:solidFill>
                  <a:srgbClr val="E8C495"/>
                </a:solidFill>
                <a:latin typeface="Calibri"/>
              </a:rPr>
              <a:t>- Diseño completo del sistema cubierto: 18 user stories, 40 requerimientos</a:t>
            </a:r>
          </a:p>
          <a:p>
            <a:pPr algn="l">
              <a:spcAft>
                <a:spcPts val="1800"/>
              </a:spcAft>
            </a:pPr>
            <a:r>
              <a:rPr sz="1600" i="1">
                <a:solidFill>
                  <a:srgbClr val="E8C495"/>
                </a:solidFill>
                <a:latin typeface="Calibri"/>
              </a:rPr>
              <a:t>- Modelo de datos validado: 10 tablas normalizadas + script SQL listo</a:t>
            </a:r>
          </a:p>
          <a:p>
            <a:pPr algn="l">
              <a:spcAft>
                <a:spcPts val="1800"/>
              </a:spcAft>
            </a:pPr>
            <a:r>
              <a:rPr sz="1600" i="1">
                <a:solidFill>
                  <a:srgbClr val="E8C495"/>
                </a:solidFill>
                <a:latin typeface="Calibri"/>
              </a:rPr>
              <a:t>- Arquitectura por capas definida: 39 clases organizadas en 5 paquetes</a:t>
            </a:r>
          </a:p>
          <a:p>
            <a:pPr algn="l">
              <a:spcAft>
                <a:spcPts val="1800"/>
              </a:spcAft>
            </a:pPr>
            <a:r>
              <a:rPr sz="1600" i="1">
                <a:solidFill>
                  <a:srgbClr val="E8C495"/>
                </a:solidFill>
                <a:latin typeface="Calibri"/>
              </a:rPr>
              <a:t>- Stack tecnológico consolidado: Java EE + MySQL + Bootstrap + Tomcat</a:t>
            </a:r>
          </a:p>
          <a:p>
            <a:pPr algn="l">
              <a:spcAft>
                <a:spcPts val="1800"/>
              </a:spcAft>
            </a:pPr>
            <a:r>
              <a:rPr sz="1600" i="1">
                <a:solidFill>
                  <a:srgbClr val="E8C495"/>
                </a:solidFill>
                <a:latin typeface="Calibri"/>
              </a:rPr>
              <a:t>- Equipo alineado y listo para iniciar Sprint 1 a partir de la Semana 11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468880"/>
            <a:ext cx="112471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0" b="1" i="1">
                <a:solidFill>
                  <a:srgbClr val="D4A574"/>
                </a:solidFill>
                <a:latin typeface="Montserrat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