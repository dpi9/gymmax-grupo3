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los próximos 15 minutos recorreremos los 9 puntos que definen el diseño completo del sistema GymMax.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Estos 5 problemas fueron validados en investigación de antecedentes del sector peruano (SmartGym, GymSys, BodyTrack).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backlog completo está en el informe Word con las 40 historias detalladas.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documento incluye las 18 historias completas con criterios de aceptación.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socio ingresa al login; si sus credenciales son válidas accede al dashboard; si no, puede registrarse.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admin se autentica, el sistema valida el rol y accede al panel administrativo.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modelo lógico representa las entidades del negocio sin atarse a un SGBD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entidad tiene su DTO, una interfaz DAO que define el contrato CRUD, y una implementación que usa JDBC.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diccionario completo con atributos, métodos y descripciones está en el informe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GymMax - Sistema Integral de Gestión de Gimnasios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Avance 02 - Diseño y Arquitectura</a:t>
            </a:r>
          </a:p>
          <a:p>
            <a:r>
              <a:t>UTP - Desarrollo Web Integrado - Sec. 27672</a:t>
            </a:r>
          </a:p>
          <a:p>
            <a:r>
              <a:t>Docente: Juan Manuel Rodríguez del Águila</a:t>
            </a:r>
          </a:p>
          <a:p>
            <a:r>
              <a:t>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Integrantes del Grupo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Choque Anchante, Niurka Yasbeth</a:t>
            </a:r>
          </a:p>
          <a:p>
            <a:pPr>
              <a:defRPr sz="1800"/>
            </a:pPr>
            <a:r>
              <a:t>Diaz Culqui, Nehemias</a:t>
            </a:r>
          </a:p>
          <a:p>
            <a:pPr>
              <a:defRPr sz="1800"/>
            </a:pPr>
            <a:r>
              <a:t>Purizaca Ipanaque, Dennys Marlon</a:t>
            </a:r>
          </a:p>
          <a:p>
            <a:pPr>
              <a:defRPr sz="1800"/>
            </a:pPr>
            <a:r>
              <a:t>Soria Chavez, Ian</a:t>
            </a:r>
          </a:p>
          <a:p>
            <a:pPr>
              <a:defRPr sz="1800"/>
            </a:pPr>
            <a:r>
              <a:t>Torre Escobar, Oliver</a:t>
            </a:r>
          </a:p>
          <a:p>
            <a:pPr>
              <a:defRPr sz="1800"/>
            </a:pPr>
            <a:r>
              <a:t>Valladolid Llenque, Alexander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1. Introducción y problemática</a:t>
            </a:r>
          </a:p>
          <a:p>
            <a:pPr>
              <a:defRPr sz="1800"/>
            </a:pPr>
            <a:r>
              <a:t>2. Objetivos y alcance</a:t>
            </a:r>
          </a:p>
          <a:p>
            <a:pPr>
              <a:defRPr sz="1800"/>
            </a:pPr>
            <a:r>
              <a:t>3. Características del producto</a:t>
            </a:r>
          </a:p>
          <a:p>
            <a:pPr>
              <a:defRPr sz="1800"/>
            </a:pPr>
            <a:r>
              <a:t>4. Product Backlog y User Stories</a:t>
            </a:r>
          </a:p>
          <a:p>
            <a:pPr>
              <a:defRPr sz="1800"/>
            </a:pPr>
            <a:r>
              <a:t>5. Wireframes y flujos de navegación</a:t>
            </a:r>
          </a:p>
          <a:p>
            <a:pPr>
              <a:defRPr sz="1800"/>
            </a:pPr>
            <a:r>
              <a:t>6. Modelo de Base de Datos (Lógico + Físico)</a:t>
            </a:r>
          </a:p>
          <a:p>
            <a:pPr>
              <a:defRPr sz="1800"/>
            </a:pPr>
            <a:r>
              <a:t>7. Diagrama de Clases UML</a:t>
            </a:r>
          </a:p>
          <a:p>
            <a:pPr>
              <a:defRPr sz="1800"/>
            </a:pPr>
            <a:r>
              <a:t>8. Tecnologías utilizadas</a:t>
            </a:r>
          </a:p>
          <a:p>
            <a:pPr>
              <a:defRPr sz="1800"/>
            </a:pPr>
            <a:r>
              <a:t>9. Próximos pasos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es GymMax?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Plataforma web centralizada para gestión de cadenas de gimnasios</a:t>
            </a:r>
          </a:p>
          <a:p>
            <a:pPr>
              <a:defRPr sz="1800"/>
            </a:pPr>
            <a:r>
              <a:t>Construida sobre Java EE + MySQL + Bootstrap 5.3</a:t>
            </a:r>
          </a:p>
          <a:p>
            <a:pPr>
              <a:defRPr sz="1800"/>
            </a:pPr>
            <a:r>
              <a:t>Enfoque Mobile First: accesible desde cualquier dispositivo</a:t>
            </a:r>
          </a:p>
          <a:p>
            <a:pPr>
              <a:defRPr sz="1800"/>
            </a:pPr>
            <a:r>
              <a:t>Centraliza: sedes, socios, membresías, reservas, pagos y reportes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problemas resolvemos?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Pérdida de ingresos por falta de control de vencimientos</a:t>
            </a:r>
          </a:p>
          <a:p>
            <a:pPr>
              <a:defRPr sz="1800"/>
            </a:pPr>
            <a:r>
              <a:t>Sobrecarga administrativa y procesos manuales</a:t>
            </a:r>
          </a:p>
          <a:p>
            <a:pPr>
              <a:defRPr sz="1800"/>
            </a:pPr>
            <a:r>
              <a:t>Colas largas en recepción en horarios pico</a:t>
            </a:r>
          </a:p>
          <a:p>
            <a:pPr>
              <a:defRPr sz="1800"/>
            </a:pPr>
            <a:r>
              <a:t>Mala experiencia del socio: no puede autogestionarse desde el celular</a:t>
            </a:r>
          </a:p>
          <a:p>
            <a:pPr>
              <a:defRPr sz="1800"/>
            </a:pPr>
            <a:r>
              <a:t>Sistemas existentes lentos y poco escalables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general y específicos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GENERAL: Desarrollar aplicación web JEE que centralice sedes, socios, membresías y reservas con interfaz Mobile First.</a:t>
            </a:r>
          </a:p>
          <a:p>
            <a:pPr>
              <a:defRPr sz="1800"/>
            </a:pPr>
            <a:r>
              <a:t>1. Módulo de consulta de sedes con cupos por clase</a:t>
            </a:r>
          </a:p>
          <a:p>
            <a:pPr>
              <a:defRPr sz="1800"/>
            </a:pPr>
            <a:r>
              <a:t>2. Formulario responsive de registro con validación tiempo real</a:t>
            </a:r>
          </a:p>
          <a:p>
            <a:pPr>
              <a:defRPr sz="1800"/>
            </a:pPr>
            <a:r>
              <a:t>3. Sistema de planes (Básico/Premium/Anual) con renovación autónoma</a:t>
            </a:r>
          </a:p>
          <a:p>
            <a:pPr>
              <a:defRPr sz="1800"/>
            </a:pPr>
            <a:r>
              <a:t>4. Diseño Mobile First con Bootstrap 5.3</a:t>
            </a:r>
          </a:p>
          <a:p>
            <a:pPr>
              <a:defRPr sz="1800"/>
            </a:pPr>
            <a:r>
              <a:t>5. Panel admin con KPIs y reportes exportables</a:t>
            </a:r>
          </a:p>
          <a:p>
            <a:pPr>
              <a:defRPr sz="1800"/>
            </a:pPr>
            <a:r>
              <a:t>6. Arquitectura por capas MVC + DAO + Facade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Alcance del proyecto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SÍ INCLUYE: Multi-sede, multi-rol, membresías digitales, dashboard KPIs, reportes</a:t>
            </a:r>
          </a:p>
          <a:p>
            <a:pPr>
              <a:defRPr sz="1800"/>
            </a:pPr>
            <a:r>
              <a:t>NO INCLUYE: pagos en efectivo, app móvil nativa, biometría, marketing masivo</a:t>
            </a:r>
          </a:p>
          <a:p>
            <a:pPr>
              <a:defRPr sz="1800"/>
            </a:pPr>
            <a:r>
              <a:t>PÚBLICO OBJETIVO: cadenas peruanas de 2-10 sedes</a:t>
            </a:r>
          </a:p>
          <a:p>
            <a:pPr>
              <a:defRPr sz="1800"/>
            </a:pPr>
            <a:r>
              <a:t>ARQUITECTURA: Jakarta EE con alta disponibilidad y escalabilidad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 características clave del producto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1. Multi-sede centralizada</a:t>
            </a:r>
          </a:p>
          <a:p>
            <a:pPr>
              <a:defRPr sz="1800"/>
            </a:pPr>
            <a:r>
              <a:t>2. Sistema de roles Socio/Admin</a:t>
            </a:r>
          </a:p>
          <a:p>
            <a:pPr>
              <a:defRPr sz="1800"/>
            </a:pPr>
            <a:r>
              <a:t>3. Mobile First responsive</a:t>
            </a:r>
          </a:p>
          <a:p>
            <a:pPr>
              <a:defRPr sz="1800"/>
            </a:pPr>
            <a:r>
              <a:t>4. Pagos digitales (Yape/Plin/Tarjeta)</a:t>
            </a:r>
          </a:p>
          <a:p>
            <a:pPr>
              <a:defRPr sz="1800"/>
            </a:pPr>
            <a:r>
              <a:t>5. Dashboard administrativo con KPIs</a:t>
            </a:r>
          </a:p>
          <a:p>
            <a:pPr>
              <a:defRPr sz="1800"/>
            </a:pPr>
            <a:r>
              <a:t>6. Reservas online con control de cupos</a:t>
            </a:r>
          </a:p>
          <a:p>
            <a:pPr>
              <a:defRPr sz="1800"/>
            </a:pPr>
            <a:r>
              <a:t>7. Validación en tiempo real</a:t>
            </a:r>
          </a:p>
          <a:p>
            <a:pPr>
              <a:defRPr sz="1800"/>
            </a:pPr>
            <a:r>
              <a:t>8. Reportes exportables a Excel/PDF</a:t>
            </a:r>
          </a:p>
          <a:p>
            <a:pPr>
              <a:defRPr sz="1800"/>
            </a:pPr>
            <a:r>
              <a:t>9. Seguridad y control de sesión por rol</a:t>
            </a:r>
          </a:p>
          <a:p>
            <a:pPr>
              <a:defRPr sz="1800"/>
            </a:pPr>
            <a:r>
              <a:t>10. Arquitectura por capas MVC + DAO + Facade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Backlog - Requerimientos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28 Requerimientos Funcionales + 12 No Funcionales</a:t>
            </a:r>
          </a:p>
          <a:p>
            <a:pPr>
              <a:defRPr sz="1800"/>
            </a:pPr>
            <a:r>
              <a:t>Distribuidos en 5 sprints (134 Story Points totales)</a:t>
            </a:r>
          </a:p>
          <a:p>
            <a:pPr>
              <a:defRPr sz="1800"/>
            </a:pPr>
            <a:r>
              <a:t>Sprint 1: Auth + Socio base - 22 SP</a:t>
            </a:r>
          </a:p>
          <a:p>
            <a:pPr>
              <a:defRPr sz="1800"/>
            </a:pPr>
            <a:r>
              <a:t>Sprint 2: Sedes + Reservas - 37 SP</a:t>
            </a:r>
          </a:p>
          <a:p>
            <a:pPr>
              <a:defRPr sz="1800"/>
            </a:pPr>
            <a:r>
              <a:t>Sprint 3: Membresías + Pagos - 41 SP</a:t>
            </a:r>
          </a:p>
          <a:p>
            <a:pPr>
              <a:defRPr sz="1800"/>
            </a:pPr>
            <a:r>
              <a:t>Sprint 4: Reportes + Asistencias - 26 SP</a:t>
            </a:r>
          </a:p>
          <a:p>
            <a:pPr>
              <a:defRPr sz="1800"/>
            </a:pPr>
            <a:r>
              <a:t>Sprint 5: Notificaciones - 8 SP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Stories destacadas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US-08 Reservar clase: como socio con membresía activa quiero reservar una clase para asegurar mi cupo (verifica membresía, descuenta cupo, confirma)</a:t>
            </a:r>
          </a:p>
          <a:p>
            <a:pPr>
              <a:defRPr sz="1800"/>
            </a:pPr>
            <a:r>
              <a:t>US-14 Dashboard Admin: como admin quiero ver KPIs en tiempo real para decidir (4 KPIs, variación %, gráfico 6 meses)</a:t>
            </a:r>
          </a:p>
          <a:p>
            <a:pPr>
              <a:defRPr sz="1800"/>
            </a:pPr>
            <a:r>
              <a:t>US-17 Generar reportes: como admin quiero reportes filtrables (4 tipos, filtros, exportar Excel/PDF)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Diagrama de flujo - Socio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INSERTAR aquí captura del diagrama del Avance 01</a:t>
            </a:r>
          </a:p>
          <a:p>
            <a:pPr>
              <a:defRPr sz="1800"/>
            </a:pPr>
            <a:r>
              <a:t>Login -&gt; validar credenciales -&gt; Dashboard del socio</a:t>
            </a:r>
          </a:p>
          <a:p>
            <a:pPr>
              <a:defRPr sz="1800"/>
            </a:pPr>
            <a:r>
              <a:t>Desde dashboard: Ver sedes / Reservar clase / Mis reservas</a:t>
            </a:r>
          </a:p>
          <a:p>
            <a:pPr>
              <a:defRPr sz="1800"/>
            </a:pPr>
            <a:r>
              <a:t>Si no tiene cuenta: ir a Registro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Diagrama de flujo - Administrador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INSERTAR aquí captura del diagrama del Avance 01</a:t>
            </a:r>
          </a:p>
          <a:p>
            <a:pPr>
              <a:defRPr sz="1800"/>
            </a:pPr>
            <a:r>
              <a:t>Login -&gt; validar rol ADMIN -&gt; Dashboard administrativo</a:t>
            </a:r>
          </a:p>
          <a:p>
            <a:pPr>
              <a:defRPr sz="1800"/>
            </a:pPr>
            <a:r>
              <a:t>Desde dashboard: Gestión socios / Gestión sedes / Reportes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Wireframes Mobile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INSERTAR aquí los mockups del Avance 01:</a:t>
            </a:r>
          </a:p>
          <a:p>
            <a:pPr>
              <a:defRPr sz="1800"/>
            </a:pPr>
            <a:r>
              <a:t>Login del socio</a:t>
            </a:r>
          </a:p>
          <a:p>
            <a:pPr>
              <a:defRPr sz="1800"/>
            </a:pPr>
            <a:r>
              <a:t>Registro de socio</a:t>
            </a:r>
          </a:p>
          <a:p>
            <a:pPr>
              <a:defRPr sz="1800"/>
            </a:pPr>
            <a:r>
              <a:t>Dashboard del socio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Wireframes Mobile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INSERTAR aquí los mockups del Avance 01:</a:t>
            </a:r>
          </a:p>
          <a:p>
            <a:pPr>
              <a:defRPr sz="1800"/>
            </a:pPr>
            <a:r>
              <a:t>Listado de sedes</a:t>
            </a:r>
          </a:p>
          <a:p>
            <a:pPr>
              <a:defRPr sz="1800"/>
            </a:pPr>
            <a:r>
              <a:t>Reservar clase</a:t>
            </a:r>
          </a:p>
          <a:p>
            <a:pPr>
              <a:defRPr sz="1800"/>
            </a:pPr>
            <a:r>
              <a:t>Mis reservas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Wireframes Desktop - Admin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INSERTAR aquí mockups del Avance 01:</a:t>
            </a:r>
          </a:p>
          <a:p>
            <a:pPr>
              <a:defRPr sz="1800"/>
            </a:pPr>
            <a:r>
              <a:t>Dashboard administrativo con KPIs</a:t>
            </a:r>
          </a:p>
          <a:p>
            <a:pPr>
              <a:defRPr sz="1800"/>
            </a:pPr>
            <a:r>
              <a:t>Gestión de socios (tabla CRUD)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Wireframes Desktop - Reportes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INSERTAR aquí mockup del Avance 01:</a:t>
            </a:r>
          </a:p>
          <a:p>
            <a:pPr>
              <a:defRPr sz="1800"/>
            </a:pPr>
            <a:r>
              <a:t>Generación de reportes</a:t>
            </a:r>
          </a:p>
          <a:p>
            <a:pPr>
              <a:defRPr sz="1800"/>
            </a:pPr>
            <a:r>
              <a:t>Gráfico de barras + tabla de resumen numérico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Modelo de Base de Datos - LÓGICO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INSERTAR aquí captura del diagrama lógico de Lucid Chart</a:t>
            </a:r>
          </a:p>
          <a:p>
            <a:pPr>
              <a:defRPr sz="1800"/>
            </a:pPr>
            <a:r>
              <a:t>10 entidades, 10 relaciones, normalizado a 3FN</a:t>
            </a:r>
          </a:p>
          <a:p>
            <a:pPr>
              <a:defRPr sz="1800"/>
            </a:pPr>
            <a:r>
              <a:t>Entidades: Usuario, Socio, Plan, Membresía, Pago, Sede, Clase, HorarioClase, Reserva, Asistencia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Modelo de Base de Datos - FÍSICO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INSERTAR aquí captura del diagrama físico de Lucid Chart</a:t>
            </a:r>
          </a:p>
          <a:p>
            <a:pPr>
              <a:defRPr sz="1800"/>
            </a:pPr>
            <a:r>
              <a:t>Motor InnoDB con integridad referencial</a:t>
            </a:r>
          </a:p>
          <a:p>
            <a:pPr>
              <a:defRPr sz="1800"/>
            </a:pPr>
            <a:r>
              <a:t>Charset utf8mb4 (soporte de caracteres especiales)</a:t>
            </a:r>
          </a:p>
          <a:p>
            <a:pPr>
              <a:defRPr sz="1800"/>
            </a:pPr>
            <a:r>
              <a:t>Script SQL listo (en anexos del Word)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Stack tecnológico de GymMax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Lenguaje: Java 11 + Jakarta EE 10</a:t>
            </a:r>
          </a:p>
          <a:p>
            <a:pPr>
              <a:defRPr sz="1800"/>
            </a:pPr>
            <a:r>
              <a:t>Frontend: JSP + Bootstrap 5.3 + HTML5</a:t>
            </a:r>
          </a:p>
          <a:p>
            <a:pPr>
              <a:defRPr sz="1800"/>
            </a:pPr>
            <a:r>
              <a:t>Controlador: Servlets (Jakarta 6.0)</a:t>
            </a:r>
          </a:p>
          <a:p>
            <a:pPr>
              <a:defRPr sz="1800"/>
            </a:pPr>
            <a:r>
              <a:t>Persistencia: JDBC + DAO + MySQL Connector</a:t>
            </a:r>
          </a:p>
          <a:p>
            <a:pPr>
              <a:defRPr sz="1800"/>
            </a:pPr>
            <a:r>
              <a:t>Base de datos: MySQL 8.0 Community</a:t>
            </a:r>
          </a:p>
          <a:p>
            <a:pPr>
              <a:defRPr sz="1800"/>
            </a:pPr>
            <a:r>
              <a:t>Servidor: Apache Tomcat 10.1</a:t>
            </a:r>
          </a:p>
          <a:p>
            <a:pPr>
              <a:defRPr sz="1800"/>
            </a:pPr>
            <a:r>
              <a:t>IDE: NetBeans 21</a:t>
            </a:r>
          </a:p>
          <a:p>
            <a:pPr>
              <a:defRPr sz="1800"/>
            </a:pPr>
            <a:r>
              <a:t>Diagramas: Lucid Chart</a:t>
            </a:r>
          </a:p>
          <a:p>
            <a:pPr>
              <a:defRPr sz="1800"/>
            </a:pPr>
            <a:r>
              <a:t>Metodología: Scrum (sprints de 2 semanas)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Diagrama de Clases UML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INSERTAR aquí captura UML (DTOs + DAOs)</a:t>
            </a:r>
          </a:p>
          <a:p>
            <a:pPr>
              <a:defRPr sz="1800"/>
            </a:pPr>
            <a:r>
              <a:t>10 DTOs (entidades del modelo de datos)</a:t>
            </a:r>
          </a:p>
          <a:p>
            <a:pPr>
              <a:defRPr sz="1800"/>
            </a:pPr>
            <a:r>
              <a:t>9 interfaces DAO + 9 implementaciones DAO</a:t>
            </a:r>
          </a:p>
          <a:p>
            <a:pPr>
              <a:defRPr sz="1800"/>
            </a:pPr>
            <a:r>
              <a:t>Programación a interfaces para desacoplar persistencia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Diagrama de Clases UML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INSERTAR aquí captura UML (Facades + Controllers)</a:t>
            </a:r>
          </a:p>
          <a:p>
            <a:pPr>
              <a:defRPr sz="1800"/>
            </a:pPr>
            <a:r>
              <a:t>5 Facades (Auth, Socio, Reserva, Membresia, Admin)</a:t>
            </a:r>
          </a:p>
          <a:p>
            <a:pPr>
              <a:defRPr sz="1800"/>
            </a:pPr>
            <a:r>
              <a:t>5 Servlets (uno por Facade)</a:t>
            </a:r>
          </a:p>
          <a:p>
            <a:pPr>
              <a:defRPr sz="1800"/>
            </a:pPr>
            <a:r>
              <a:t>1 Conexion (singleton helper de JDBC)</a:t>
            </a:r>
          </a:p>
          <a:p>
            <a:pPr>
              <a:defRPr sz="1800"/>
            </a:pPr>
            <a:r>
              <a:t>Facade encapsula reglas de negocio; Servlets coordinan MVC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Diccionario de Clases - Resumen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DTO: 10 clases</a:t>
            </a:r>
          </a:p>
          <a:p>
            <a:pPr>
              <a:defRPr sz="1800"/>
            </a:pPr>
            <a:r>
              <a:t>DAO interfaces: 9</a:t>
            </a:r>
          </a:p>
          <a:p>
            <a:pPr>
              <a:defRPr sz="1800"/>
            </a:pPr>
            <a:r>
              <a:t>DAO implementaciones: 9</a:t>
            </a:r>
          </a:p>
          <a:p>
            <a:pPr>
              <a:defRPr sz="1800"/>
            </a:pPr>
            <a:r>
              <a:t>Facades: 5</a:t>
            </a:r>
          </a:p>
          <a:p>
            <a:pPr>
              <a:defRPr sz="1800"/>
            </a:pPr>
            <a:r>
              <a:t>Controllers (Servlets): 5</a:t>
            </a:r>
          </a:p>
          <a:p>
            <a:pPr>
              <a:defRPr sz="1800"/>
            </a:pPr>
            <a:r>
              <a:t>Utilitaria (Conexion): 1</a:t>
            </a:r>
          </a:p>
          <a:p>
            <a:pPr>
              <a:defRPr sz="1800"/>
            </a:pPr>
            <a:r>
              <a:t>TOTAL: 39 clases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Patrones de diseño aplicados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MVC: Modelo (DTO) - Vista (JSP) - Controlador (Servlet)</a:t>
            </a:r>
          </a:p>
          <a:p>
            <a:pPr>
              <a:defRPr sz="1800"/>
            </a:pPr>
            <a:r>
              <a:t>DAO: aislamiento del acceso a datos</a:t>
            </a:r>
          </a:p>
          <a:p>
            <a:pPr>
              <a:defRPr sz="1800"/>
            </a:pPr>
            <a:r>
              <a:t>Facade: encapsulamiento de reglas de negocio</a:t>
            </a:r>
          </a:p>
          <a:p>
            <a:pPr>
              <a:defRPr sz="1800"/>
            </a:pPr>
            <a:r>
              <a:t>Singleton: helper Conexion único para JDBC</a:t>
            </a:r>
          </a:p>
          <a:p>
            <a:pPr>
              <a:defRPr sz="1800"/>
            </a:pPr>
            <a:r>
              <a:t>DTO: objetos planos para transportar datos entre capas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Hoja de ruta hacia la entrega final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Sprint 1-2 (Sem 11-12): Autenticación + dashboard socio + listado de sedes</a:t>
            </a:r>
          </a:p>
          <a:p>
            <a:pPr>
              <a:defRPr sz="1800"/>
            </a:pPr>
            <a:r>
              <a:t>Sprint 3 (Sem 13): Reservas de clases + membresías y pagos</a:t>
            </a:r>
          </a:p>
          <a:p>
            <a:pPr>
              <a:defRPr sz="1800"/>
            </a:pPr>
            <a:r>
              <a:t>Sprint 4 (Sem 14): Panel administrativo + reportes + exportación</a:t>
            </a:r>
          </a:p>
          <a:p>
            <a:pPr>
              <a:defRPr sz="1800"/>
            </a:pPr>
            <a:r>
              <a:t>Sprint 5 (Sem 15): Notificaciones + pruebas integrales + documentación final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Conclusiones del Avance 02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Diseño completo del sistema cubierto: 18 user stories, 40 requerimientos</a:t>
            </a:r>
          </a:p>
          <a:p>
            <a:pPr>
              <a:defRPr sz="1800"/>
            </a:pPr>
            <a:r>
              <a:t>Modelo de datos validado: 10 tablas normalizadas + script SQL listo</a:t>
            </a:r>
          </a:p>
          <a:p>
            <a:pPr>
              <a:defRPr sz="1800"/>
            </a:pPr>
            <a:r>
              <a:t>Arquitectura por capas definida: 39 clases organizadas en 5 paquetes</a:t>
            </a:r>
          </a:p>
          <a:p>
            <a:pPr>
              <a:defRPr sz="1800"/>
            </a:pPr>
            <a:r>
              <a:t>Stack tecnológico consolidado: Java EE + MySQL + Bootstrap + Tomcat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¡Gracias!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¿Preguntas?</a:t>
            </a:r>
          </a:p>
          <a:p/>
          <a:p>
            <a:r>
              <a:t>Equipo Grupo 3 - UTP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